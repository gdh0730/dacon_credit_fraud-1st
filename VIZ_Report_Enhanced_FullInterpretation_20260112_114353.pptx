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1829" autoAdjust="0"/>
  </p:normalViewPr>
  <p:slideViewPr>
    <p:cSldViewPr snapToGrid="0" snapToObjects="1">
      <p:cViewPr varScale="1">
        <p:scale>
          <a:sx n="92" d="100"/>
          <a:sy n="92" d="100"/>
        </p:scale>
        <p:origin x="22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TP</c:v>
                </c:pt>
              </c:strCache>
            </c:strRef>
          </c:tx>
          <c:spPr>
            <a:solidFill>
              <a:srgbClr val="4F46E5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Before(후보)</c:v>
                </c:pt>
                <c:pt idx="1">
                  <c:v>After(1010)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24</c:v>
                </c:pt>
                <c:pt idx="1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DB-44EC-987A-AC70658265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FP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Before(후보)</c:v>
                </c:pt>
                <c:pt idx="1">
                  <c:v>After(1010)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8DB-44EC-987A-AC70658265D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9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ko-K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0781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PPT는 PDF 보고서 내용을 “슬라이드형”으로 재구성한 자료입니다.
각 슬라이드: (1) 매커니즘(왜/어떻게) → (2) 검증/시각화(무엇을 보면 정상인지) 순서로 설명합니다.
[Sources]
- Internal: /mnt/data/viz_checkpoints_slides/20260112_114353 (fig/*.png, tables/*.csv, logs/*.json)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핵심은 “라벨 없는 대규모 데이터”에서 outlier를 찾아야 한다는 점입니다.
따라서 train을 정상 분포로 보고 비지도 이상탐지로 후보를 만들고, val 라벨은 오로지 검증/설계(피처 선택, 임계값 점검)에만 씁니다.
[Sources]
- Internal: /mnt/data/viz_checkpoints_slides/20260112_114353/logs/datasets_basic.json
- Internal: /mnt/data/viz_checkpoints_slides/20260112_114353/logs/imbalance_with_expectations.json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슬라이드는 “왜 1등 풀이가 이 구조인지”를 한 번에 이해시키기 위한 요약입니다.
Stage1/3는 후보를 만들고(Recall), 1010은 후보 내부에서 FP를 깎습니다(Precision).
[Sources]
- Internal: /mnt/data/viz_checkpoints_slides/20260112_114353/tables/stage1_cm.csv
- Internal: /mnt/data/viz_checkpoints_slides/20260112_114353/tables/pipeline_val_after1010_cm.csv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정합성은 “이후 단계가 믿을 만한지”를 결정하는 0순위 체크입니다.
히스토그램은 분포의 스케일/꼬리 형태를 빠르게 확인하기 위한 용도이며, split 간 형태가 크게 다르지 않으면 train 기반 정상 학습이 유리합니다.
[Sources]
- Internal: /mnt/data/viz_checkpoints_slides/20260112_114353/logs/datasets_basic.json
- Internal: /mnt/data/viz_checkpoints_slides/20260112_114353/logs/finite_ratios.json
- Internal: /mnt/data/viz_checkpoints_slides/20260112_114353/fig/train_df_raw_hist_top12.png
- Internal: /mnt/data/viz_checkpoints_slides/20260112_114353/fig/val_df_raw_hist_top12.png
- Internal: /mnt/data/viz_checkpoints_slides/20260112_114353/fig/test_df_raw_hist_top12.png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쉬프트 점검은 “train에서 배운 정상 경계”가 val/test에서도 의미가 있는지 확인하는 단계입니다.
PSI가 전반적으로 매우 작다면 split 간 분포 차이가 작아 비지도 탐지에 유리합니다.
[Sources]
- Internal: /mnt/data/viz_checkpoints_slides/20260112_114353/tables/shift_train_vs_val.csv
- Internal: /mnt/data/viz_checkpoints_slides/20260112_114353/tables/shift_train_vs_test.csv
- Internal: /mnt/data/viz_checkpoints_slides/20260112_114353/fig/hist_train_vs_val_V9.png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규칙 준수를 위해 val 라벨은 모델 피팅에 쓰지 않고, “어떤 피처 조합이 분리 단서를 주는지”를 확인하는 용도로 사용합니다.
contamination은 후보 수를 결정하는 핵심 레버입니다. 여기서는 val fraud rate 수준으로 설정해 후보 수 폭주/붕괴를 방지합니다.
[Sources]
- Internal: /mnt/data/viz_checkpoints_slides/20260112_114353/logs/imbalance_with_expectations.json
- Internal: /mnt/data/viz_checkpoints_slides/20260112_114353/fig/superior_var1_boxplots_top12.png
- Internal: /mnt/data/viz_checkpoints_slides/20260112_114353/fig/inferior_var2_boxplots_top12.png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Stage1은 “완벽 분류”가 아니라 “좋은 후보 리스트”를 만드는 단계입니다.
PaCMAP은 구조를 펼치고, IF는 고립 깊이 기반으로 이상치를 점수화합니다.
[Sources]
- Internal: /mnt/data/viz_checkpoints_slides/20260112_114353/fig/stage1_train_scatter2d.png
- Internal: /mnt/data/viz_checkpoints_slides/20260112_114353/fig/stage1_score_hist_by_class.png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Stage1의 핵심은 후보 농도(precision)입니다. 여기서는 27개 후보 중 24개가 사기입니다.
남은 과제는 FP=3을 제거하는 것이며, 이를 1010(후보 내부 정제)에서 수행합니다.
[Sources]
- Internal: /mnt/data/viz_checkpoints_slides/20260112_114353/tables/stage1_cm.csv
- Internal: /mnt/data/viz_checkpoints_slides/20260112_114353/fig/stage1_val_scatter2d_byClass.png
- Internal: /mnt/data/viz_checkpoints_slides/20260112_114353/fig/stage1_pr.png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Stage3는 “후보 생성기”를 더 견고하게 만들기 위한 단계입니다.
추가 피처가 Class별 분포 차이를 보이면(박스플롯), 후보 점수의 순위가 안정화될 수 있습니다.
[Sources]
- Internal: /mnt/data/viz_checkpoints_slides/20260112_114353/fig/new_born_idx_boxplots.png
- Internal: /mnt/data/viz_checkpoints_slides/20260112_114353/fig/dhk_add_list_boxplots.png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Stage3의 의미는 “후보가 흔들리지 않게” 만드는 것입니다.
이번 실행에서는 Stage1과 동일한 혼동행렬이므로, 후보 생성이 이미 안정적인 영역에 수렴해 있음을 시사합니다.
[Sources]
- Internal: /mnt/data/viz_checkpoints_slides/20260112_114353/tables/stage3_cm.csv
- Internal: /mnt/data/viz_checkpoints_slides/20260112_114353/fig/stage3_val_scatter2d_byClass.png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1010은 “후보 내부 정제기”입니다. 전체에서 FP를 줄이려는 게 아니라, 이미 고순도 후보(27개)에서 남은 FP(3개)를 제거합니다.
subset/전체 길이 혼동은 실제로 흔한 오류이므로, 이 PPT에서도 체크포인트로 강조했습니다.
[Sources]
- Internal: /mnt/data/viz_checkpoints_slides/20260112_114353/fig/one_val_pca2d.png
- Internal: /mnt/data/viz_checkpoints_slides/20260112_114353/fig/pred1010_val_hist.png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슬라이드는 1010의 효과를 가장 직관적으로 보여줍니다: FP는 0으로 줄고 TP는 유지됩니다.
즉, 후보 생성기는 그대로 두고(Recall), 후보 내부에서만 FP를 정제(Precision)하는 전략이 성공한 것입니다.
[Sources]
- Internal: /mnt/data/viz_checkpoints_slides/20260112_114353/tables/pred1010_subset_cm.csv
- Internal: /mnt/data/viz_checkpoints_slides/20260112_114353/tables/pipeline_val_after1010_cm.csv
- Internal: /mnt/data/viz_checkpoints_slides/20260112_114353/tables/stage1_cm.csv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최종 제출 단계는 “인덱스/ID 정렬”이 가장 많이 깨지는 구간입니다.
따라서 Class 분포와 양성 개수를 항상 체크하여 silent bug를 막는 것이 중요합니다.
[Sources]
- Internal: /mnt/data/viz_checkpoints_slides/20260112_114353/logs/final_submit_summary.json
- Internal: /mnt/data/viz_checkpoints_slides/20260112_114353/fig/final_submit_class_hist.png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남는 FN은 “학습 실패”라기보다, private score 관점에서 선택된 Precision-Recall 절충의 결과일 수 있습니다.
향후 개선은 FN 샘플만 따로 뽑아 임베딩/점수/피처 분포를 비교해 “왜 정상처럼 보였는지”를 밝히는 방향이 좋습니다.
[Sources]
- Internal: /mnt/data/viz_checkpoints_slides/20260112_114353/tables/stage1_cm.csv
- Internal: /mnt/data/viz_checkpoints_slides/20260112_114353/fig/stage1_roc.png
- Internal: /mnt/data/viz_checkpoints_slides/20260112_114353/fig/stage3_pr.png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발표/리뷰 시에는 각 단계에서 “정상 동작 신호”를 체크리스트로 확인하면 빠르게 디버깅할 수 있습니다.
[Sources]
- Internal: /mnt/data/viz_checkpoints_slides/20260112_114353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B"/>
          </a:solidFill>
          <a:ln/>
        </p:spPr>
      </p:sp>
      <p:sp>
        <p:nvSpPr>
          <p:cNvPr id="3" name="Text 1"/>
          <p:cNvSpPr/>
          <p:nvPr/>
        </p:nvSpPr>
        <p:spPr>
          <a:xfrm>
            <a:off x="977202" y="22402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신용카드 사기 거래 탐지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1등 풀이 파이프라인 해설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022922" y="34747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검증/시각화 </a:t>
            </a:r>
            <a:r>
              <a:rPr lang="en-US" sz="1600" dirty="0" err="1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산출물</a:t>
            </a:r>
            <a:r>
              <a:rPr lang="en-US" sz="160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기반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8585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구조와 제약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11858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= unlabeled, val = labeled (학습 금지)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1118585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822960"/>
            <a:ext cx="56692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98755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구조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325880"/>
            <a:ext cx="52120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train: 113,842 rows (라벨 없음)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val:   28,462 rows (Class 제공)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test:  142,503 rows (라벨 없음)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피처: V1~V30 (익명화)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0" y="822960"/>
            <a:ext cx="52578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29400" y="987552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난점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29400" y="1325880"/>
            <a:ext cx="48006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극불균형: 사기 30 / 정상 28432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fraud rate ≈ 0.001054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 라벨로 모델 피팅 불가(규칙)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“정상 분포”를 train에서 학습 → outlier 탐지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3474720"/>
            <a:ext cx="3291840" cy="777240"/>
          </a:xfrm>
          <a:prstGeom prst="roundRect">
            <a:avLst/>
          </a:prstGeom>
          <a:solidFill>
            <a:srgbClr val="EEF2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675888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(정상 분포 학습)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06240" y="3675888"/>
            <a:ext cx="914400" cy="411480"/>
          </a:xfrm>
          <a:prstGeom prst="rightArrow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0" y="3474720"/>
            <a:ext cx="3200400" cy="777240"/>
          </a:xfrm>
          <a:prstGeom prst="roundRect">
            <a:avLst/>
          </a:prstGeom>
          <a:solidFill>
            <a:srgbClr val="EEF2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367588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test/val (점수/후보 생성)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641080" y="3675888"/>
            <a:ext cx="914400" cy="411480"/>
          </a:xfrm>
          <a:prstGeom prst="rightArrow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784080" y="3474720"/>
            <a:ext cx="1920240" cy="777240"/>
          </a:xfrm>
          <a:prstGeom prst="roundRect">
            <a:avLst/>
          </a:prstGeom>
          <a:solidFill>
            <a:srgbClr val="EEF2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84080" y="367588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제출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6601968"/>
            <a:ext cx="55929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목표: 극소수 양성(사기)을 “정확히” 뽑기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95848" y="6601968"/>
            <a:ext cx="55929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snapshot=20260112_114353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8585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 전략(1등 풀이의 핵심 아이디어)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11858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후보 생성(Recall) → 후보 내부 정제(Precision)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1118585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868680"/>
            <a:ext cx="111099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033272"/>
            <a:ext cx="10652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분해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371600"/>
            <a:ext cx="10652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1단계: “사기일 가능성이 있는 소수 후보”를 만든다 (Stage1/Stage3).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2단계: 후보 내부에서 FP(가짜 이상치)를 </a:t>
            </a:r>
            <a:r>
              <a:rPr lang="en-US" sz="11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제거한다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 KernelPCA 기반).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결과: Recall을 유지하면서 Precision을 끌어올림 → private score에 유리.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2606040"/>
            <a:ext cx="2697480" cy="777240"/>
          </a:xfrm>
          <a:prstGeom prst="roundRect">
            <a:avLst/>
          </a:prstGeom>
          <a:solidFill>
            <a:srgbClr val="E5EE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69748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정합성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990088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결측/Inf/중복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10712" y="2852928"/>
            <a:ext cx="173736" cy="274320"/>
          </a:xfrm>
          <a:prstGeom prst="chevron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11880" y="2606040"/>
            <a:ext cx="2697480" cy="777240"/>
          </a:xfrm>
          <a:prstGeom prst="roundRect">
            <a:avLst/>
          </a:prstGeom>
          <a:solidFill>
            <a:srgbClr val="E5EE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1880" y="269748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쉬프트 점검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11880" y="2990088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PSI/KS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36792" y="2852928"/>
            <a:ext cx="173736" cy="274320"/>
          </a:xfrm>
          <a:prstGeom prst="chevron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37960" y="2606040"/>
            <a:ext cx="2697480" cy="777240"/>
          </a:xfrm>
          <a:prstGeom prst="roundRect">
            <a:avLst/>
          </a:prstGeom>
          <a:solidFill>
            <a:srgbClr val="E5EE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269748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피처 선택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37960" y="2990088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Wilcoxon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262872" y="2852928"/>
            <a:ext cx="173736" cy="274320"/>
          </a:xfrm>
          <a:prstGeom prst="chevron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64040" y="2606040"/>
            <a:ext cx="2697480" cy="777240"/>
          </a:xfrm>
          <a:prstGeom prst="roundRect">
            <a:avLst/>
          </a:prstGeom>
          <a:solidFill>
            <a:srgbClr val="D9F3F3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64040" y="269748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464040" y="2990088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PaCMAP + IF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828800" y="3474720"/>
            <a:ext cx="2697480" cy="777240"/>
          </a:xfrm>
          <a:prstGeom prst="roundRect">
            <a:avLst/>
          </a:prstGeom>
          <a:solidFill>
            <a:srgbClr val="D9F3F3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28800" y="356616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828800" y="3858768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보팅 안정화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53712" y="3721608"/>
            <a:ext cx="173736" cy="274320"/>
          </a:xfrm>
          <a:prstGeom prst="chevron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3474720"/>
            <a:ext cx="2697480" cy="777240"/>
          </a:xfrm>
          <a:prstGeom prst="roundRect">
            <a:avLst/>
          </a:prstGeom>
          <a:solidFill>
            <a:srgbClr val="FFE9D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356616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1010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754880" y="3858768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KernelPCA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479792" y="3721608"/>
            <a:ext cx="173736" cy="274320"/>
          </a:xfrm>
          <a:prstGeom prst="chevron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80960" y="3474720"/>
            <a:ext cx="2697480" cy="777240"/>
          </a:xfrm>
          <a:prstGeom prst="roundRect">
            <a:avLst/>
          </a:prstGeom>
          <a:solidFill>
            <a:srgbClr val="EDE7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80960" y="356616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제출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680960" y="3858768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생성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4434840"/>
            <a:ext cx="111099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4599432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성과(Validation 기준)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77240" y="493776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Stage1/3 후보: TP=24, FP=3, FN=6  → 후보 27개 중 사기 비율 ≈ 0.889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ko-KR" alt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커널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정제: FP 3 → 0 (TP 유지)  → “가짜 이상치” 제거에 매우 효과적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8585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블록 1 — 데이터 정합성 &amp; 기본 분포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11858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먼저 “학습이 깨지지 않는 입력”인지 검증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1118585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7724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정합성 체크(핵심)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1463040" cy="274320"/>
          </a:xfrm>
          <a:prstGeom prst="rect">
            <a:avLst/>
          </a:prstGeom>
          <a:solidFill>
            <a:srgbClr val="EEF2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097280"/>
            <a:ext cx="13167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11680" y="1051560"/>
            <a:ext cx="1645920" cy="274320"/>
          </a:xfrm>
          <a:prstGeom prst="rect">
            <a:avLst/>
          </a:prstGeom>
          <a:solidFill>
            <a:srgbClr val="EEF2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84832" y="1097280"/>
            <a:ext cx="14996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0" y="1051560"/>
            <a:ext cx="1280160" cy="274320"/>
          </a:xfrm>
          <a:prstGeom prst="rect">
            <a:avLst/>
          </a:prstGeom>
          <a:solidFill>
            <a:srgbClr val="EEF2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30752" y="1097280"/>
            <a:ext cx="11338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37760" y="1051560"/>
            <a:ext cx="1371600" cy="274320"/>
          </a:xfrm>
          <a:prstGeom prst="rect">
            <a:avLst/>
          </a:prstGeom>
          <a:solidFill>
            <a:srgbClr val="EEF2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10912" y="1097280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 rows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1325880"/>
            <a:ext cx="14630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1371600"/>
            <a:ext cx="13167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011680" y="1325880"/>
            <a:ext cx="1645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84832" y="1371600"/>
            <a:ext cx="14996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113842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0" y="1325880"/>
            <a:ext cx="12801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30752" y="1371600"/>
            <a:ext cx="11338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37760" y="1325880"/>
            <a:ext cx="1371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10912" y="1371600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245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1600200"/>
            <a:ext cx="14630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1645920"/>
            <a:ext cx="13167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011680" y="1600200"/>
            <a:ext cx="1645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84832" y="1645920"/>
            <a:ext cx="14996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28462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0" y="1600200"/>
            <a:ext cx="12801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30752" y="1645920"/>
            <a:ext cx="11338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37760" y="1600200"/>
            <a:ext cx="1371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10912" y="1645920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1874520"/>
            <a:ext cx="14630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" y="1920240"/>
            <a:ext cx="13167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011680" y="1874520"/>
            <a:ext cx="1645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84832" y="1920240"/>
            <a:ext cx="14996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142503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0" y="1874520"/>
            <a:ext cx="12801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30752" y="1920240"/>
            <a:ext cx="11338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937760" y="1874520"/>
            <a:ext cx="1371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10912" y="1920240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294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" y="2240280"/>
            <a:ext cx="5760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기준
• Nulls=0, finite_ratio=1.0
• train/val/test 피처 스키마 동일
• (중복행은 오류 아님)
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537960" y="777240"/>
            <a:ext cx="54864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40" name="Image 0" descr="/mnt/data/viz_checkpoints_slides/20260112_114353/fig/train_df_raw_hist_top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5681" y="822960"/>
            <a:ext cx="1470957" cy="1645920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6629400" y="2487168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상위 12개 피처 분포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48640" y="3429000"/>
            <a:ext cx="57150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43" name="Image 1" descr="/mnt/data/viz_checkpoints_slides/20260112_114353/fig/val_df_raw_hist_top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8579" y="3474720"/>
            <a:ext cx="2455123" cy="2743200"/>
          </a:xfrm>
          <a:prstGeom prst="rect">
            <a:avLst/>
          </a:prstGeom>
        </p:spPr>
      </p:pic>
      <p:sp>
        <p:nvSpPr>
          <p:cNvPr id="44" name="Text 40"/>
          <p:cNvSpPr/>
          <p:nvPr/>
        </p:nvSpPr>
        <p:spPr>
          <a:xfrm>
            <a:off x="640080" y="6236208"/>
            <a:ext cx="5532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Val: 상위 12개 피처 분포</a:t>
            </a:r>
            <a:endParaRPr lang="en-US" sz="900" dirty="0"/>
          </a:p>
        </p:txBody>
      </p:sp>
      <p:sp>
        <p:nvSpPr>
          <p:cNvPr id="45" name="Shape 41"/>
          <p:cNvSpPr/>
          <p:nvPr/>
        </p:nvSpPr>
        <p:spPr>
          <a:xfrm>
            <a:off x="6537960" y="3429000"/>
            <a:ext cx="54864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46" name="Image 2" descr="/mnt/data/viz_checkpoints_slides/20260112_114353/fig/test_df_raw_hist_top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5362" y="3474720"/>
            <a:ext cx="2451595" cy="2743200"/>
          </a:xfrm>
          <a:prstGeom prst="rect">
            <a:avLst/>
          </a:prstGeom>
        </p:spPr>
      </p:pic>
      <p:sp>
        <p:nvSpPr>
          <p:cNvPr id="47" name="Text 42"/>
          <p:cNvSpPr/>
          <p:nvPr/>
        </p:nvSpPr>
        <p:spPr>
          <a:xfrm>
            <a:off x="6629400" y="6236208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상위 12개 피처 분포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8585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블록 2 — 분포 쉬프트 점검(Train ↔ Val/Test)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11858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비지도 탐지의 전제: train=정상 분포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1118585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7724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vs Val (PSI 상위)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1280160" cy="256032"/>
          </a:xfrm>
          <a:prstGeom prst="rect">
            <a:avLst/>
          </a:prstGeom>
          <a:solidFill>
            <a:srgbClr val="EEF2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097280"/>
            <a:ext cx="1133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828800" y="1051560"/>
            <a:ext cx="1188720" cy="256032"/>
          </a:xfrm>
          <a:prstGeom prst="rect">
            <a:avLst/>
          </a:prstGeom>
          <a:solidFill>
            <a:srgbClr val="EEF2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1952" y="1097280"/>
            <a:ext cx="10424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017520" y="1051560"/>
            <a:ext cx="1280160" cy="256032"/>
          </a:xfrm>
          <a:prstGeom prst="rect">
            <a:avLst/>
          </a:prstGeom>
          <a:solidFill>
            <a:srgbClr val="EEF2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90672" y="1097280"/>
            <a:ext cx="1133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 p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297680" y="1051560"/>
            <a:ext cx="1920240" cy="256032"/>
          </a:xfrm>
          <a:prstGeom prst="rect">
            <a:avLst/>
          </a:prstGeom>
          <a:solidFill>
            <a:srgbClr val="EEF2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70832" y="1097280"/>
            <a:ext cx="177393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W-dist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1307592"/>
            <a:ext cx="12801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1353312"/>
            <a:ext cx="1133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V26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828800" y="1307592"/>
            <a:ext cx="11887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01952" y="1353312"/>
            <a:ext cx="10424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0.000957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017520" y="1307592"/>
            <a:ext cx="12801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90672" y="1353312"/>
            <a:ext cx="1133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0.609862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297680" y="1307592"/>
            <a:ext cx="19202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70832" y="1353312"/>
            <a:ext cx="177393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0.003976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1563624"/>
            <a:ext cx="12801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1609344"/>
            <a:ext cx="1133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V9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828800" y="1563624"/>
            <a:ext cx="11887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01952" y="1609344"/>
            <a:ext cx="10424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0.000941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017520" y="1563624"/>
            <a:ext cx="12801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90672" y="1609344"/>
            <a:ext cx="1133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0.033952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297680" y="1563624"/>
            <a:ext cx="19202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1609344"/>
            <a:ext cx="177393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0.010474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8640" y="1819656"/>
            <a:ext cx="12801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" y="1865376"/>
            <a:ext cx="1133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V25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828800" y="1819656"/>
            <a:ext cx="11887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01952" y="1865376"/>
            <a:ext cx="10424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0.000877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017520" y="1819656"/>
            <a:ext cx="12801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90672" y="1865376"/>
            <a:ext cx="1133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0.374036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297680" y="1819656"/>
            <a:ext cx="19202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70832" y="1865376"/>
            <a:ext cx="177393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0.006017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48640" y="2075688"/>
            <a:ext cx="12801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" y="2121408"/>
            <a:ext cx="1133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V14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828800" y="2075688"/>
            <a:ext cx="11887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901952" y="2121408"/>
            <a:ext cx="10424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0.000863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017520" y="2075688"/>
            <a:ext cx="12801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090672" y="2121408"/>
            <a:ext cx="1133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0.016499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297680" y="2075688"/>
            <a:ext cx="19202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70832" y="2121408"/>
            <a:ext cx="177393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0.011839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48640" y="2331720"/>
            <a:ext cx="12801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1792" y="2377440"/>
            <a:ext cx="1133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V19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1828800" y="2331720"/>
            <a:ext cx="11887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901952" y="2377440"/>
            <a:ext cx="10424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0.000855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017520" y="2331720"/>
            <a:ext cx="12801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090672" y="2377440"/>
            <a:ext cx="1133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0.526121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297680" y="2331720"/>
            <a:ext cx="19202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370832" y="2377440"/>
            <a:ext cx="177393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0.007494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48640" y="2587752"/>
            <a:ext cx="12801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1792" y="2633472"/>
            <a:ext cx="1133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1828800" y="2587752"/>
            <a:ext cx="11887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901952" y="2633472"/>
            <a:ext cx="10424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0.000604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017520" y="2587752"/>
            <a:ext cx="12801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090672" y="2633472"/>
            <a:ext cx="1133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0.445449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297680" y="2587752"/>
            <a:ext cx="19202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370832" y="2633472"/>
            <a:ext cx="177393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0.016953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400800" y="77724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vs Test (PSI 상위)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6400800" y="1051560"/>
            <a:ext cx="1280160" cy="256032"/>
          </a:xfrm>
          <a:prstGeom prst="rect">
            <a:avLst/>
          </a:prstGeom>
          <a:solidFill>
            <a:srgbClr val="EEF2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73952" y="1097280"/>
            <a:ext cx="1133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7680960" y="1051560"/>
            <a:ext cx="1188720" cy="256032"/>
          </a:xfrm>
          <a:prstGeom prst="rect">
            <a:avLst/>
          </a:prstGeom>
          <a:solidFill>
            <a:srgbClr val="EEF2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754112" y="1097280"/>
            <a:ext cx="10424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8869680" y="1051560"/>
            <a:ext cx="1280160" cy="256032"/>
          </a:xfrm>
          <a:prstGeom prst="rect">
            <a:avLst/>
          </a:prstGeom>
          <a:solidFill>
            <a:srgbClr val="EEF2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942832" y="1097280"/>
            <a:ext cx="1133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 p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10149840" y="1051560"/>
            <a:ext cx="2011680" cy="256032"/>
          </a:xfrm>
          <a:prstGeom prst="rect">
            <a:avLst/>
          </a:prstGeom>
          <a:solidFill>
            <a:srgbClr val="EEF2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0222992" y="1097280"/>
            <a:ext cx="18653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W-dist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6400800" y="1307592"/>
            <a:ext cx="12801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473952" y="1353312"/>
            <a:ext cx="1133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V8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7680960" y="1307592"/>
            <a:ext cx="11887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754112" y="1353312"/>
            <a:ext cx="10424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0.000224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8869680" y="1307592"/>
            <a:ext cx="12801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942832" y="1353312"/>
            <a:ext cx="1133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0.146777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10149840" y="1307592"/>
            <a:ext cx="20116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0222992" y="1353312"/>
            <a:ext cx="18653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0.008537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6400800" y="1563624"/>
            <a:ext cx="12801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473952" y="1609344"/>
            <a:ext cx="1133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7680960" y="1563624"/>
            <a:ext cx="11887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754112" y="1609344"/>
            <a:ext cx="10424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0.000219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8869680" y="1563624"/>
            <a:ext cx="12801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942832" y="1609344"/>
            <a:ext cx="1133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0.112927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10149840" y="1563624"/>
            <a:ext cx="20116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0222992" y="1609344"/>
            <a:ext cx="18653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0.017969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6400800" y="1819656"/>
            <a:ext cx="12801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473952" y="1865376"/>
            <a:ext cx="1133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V24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7680960" y="1819656"/>
            <a:ext cx="11887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754112" y="1865376"/>
            <a:ext cx="10424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0.000201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8869680" y="1819656"/>
            <a:ext cx="12801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942832" y="1865376"/>
            <a:ext cx="1133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0.589821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10149840" y="1819656"/>
            <a:ext cx="20116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0222992" y="1865376"/>
            <a:ext cx="18653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0.002122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6400800" y="2075688"/>
            <a:ext cx="12801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473952" y="2121408"/>
            <a:ext cx="1133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V6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7680960" y="2075688"/>
            <a:ext cx="11887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754112" y="2121408"/>
            <a:ext cx="10424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0.000192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8869680" y="2075688"/>
            <a:ext cx="12801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942832" y="2121408"/>
            <a:ext cx="1133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0.464542</a:t>
            </a:r>
            <a:endParaRPr lang="en-US" sz="950" dirty="0"/>
          </a:p>
        </p:txBody>
      </p:sp>
      <p:sp>
        <p:nvSpPr>
          <p:cNvPr id="101" name="Shape 99"/>
          <p:cNvSpPr/>
          <p:nvPr/>
        </p:nvSpPr>
        <p:spPr>
          <a:xfrm>
            <a:off x="10149840" y="2075688"/>
            <a:ext cx="20116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10222992" y="2121408"/>
            <a:ext cx="18653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0.007584</a:t>
            </a:r>
            <a:endParaRPr lang="en-US" sz="950" dirty="0"/>
          </a:p>
        </p:txBody>
      </p:sp>
      <p:sp>
        <p:nvSpPr>
          <p:cNvPr id="103" name="Shape 101"/>
          <p:cNvSpPr/>
          <p:nvPr/>
        </p:nvSpPr>
        <p:spPr>
          <a:xfrm>
            <a:off x="6400800" y="2331720"/>
            <a:ext cx="12801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473952" y="2377440"/>
            <a:ext cx="1133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V28</a:t>
            </a:r>
            <a:endParaRPr lang="en-US" sz="950" dirty="0"/>
          </a:p>
        </p:txBody>
      </p:sp>
      <p:sp>
        <p:nvSpPr>
          <p:cNvPr id="105" name="Shape 103"/>
          <p:cNvSpPr/>
          <p:nvPr/>
        </p:nvSpPr>
        <p:spPr>
          <a:xfrm>
            <a:off x="7680960" y="2331720"/>
            <a:ext cx="11887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7754112" y="2377440"/>
            <a:ext cx="10424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0.000173</a:t>
            </a:r>
            <a:endParaRPr lang="en-US" sz="950" dirty="0"/>
          </a:p>
        </p:txBody>
      </p:sp>
      <p:sp>
        <p:nvSpPr>
          <p:cNvPr id="107" name="Shape 105"/>
          <p:cNvSpPr/>
          <p:nvPr/>
        </p:nvSpPr>
        <p:spPr>
          <a:xfrm>
            <a:off x="8869680" y="2331720"/>
            <a:ext cx="12801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8942832" y="2377440"/>
            <a:ext cx="1133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0.485475</a:t>
            </a:r>
            <a:endParaRPr lang="en-US" sz="950" dirty="0"/>
          </a:p>
        </p:txBody>
      </p:sp>
      <p:sp>
        <p:nvSpPr>
          <p:cNvPr id="109" name="Shape 107"/>
          <p:cNvSpPr/>
          <p:nvPr/>
        </p:nvSpPr>
        <p:spPr>
          <a:xfrm>
            <a:off x="10149840" y="2331720"/>
            <a:ext cx="20116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10222992" y="2377440"/>
            <a:ext cx="18653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0.003868</a:t>
            </a:r>
            <a:endParaRPr lang="en-US" sz="950" dirty="0"/>
          </a:p>
        </p:txBody>
      </p:sp>
      <p:sp>
        <p:nvSpPr>
          <p:cNvPr id="111" name="Shape 109"/>
          <p:cNvSpPr/>
          <p:nvPr/>
        </p:nvSpPr>
        <p:spPr>
          <a:xfrm>
            <a:off x="6400800" y="2587752"/>
            <a:ext cx="12801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6473952" y="2633472"/>
            <a:ext cx="1133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V14</a:t>
            </a:r>
            <a:endParaRPr lang="en-US" sz="950" dirty="0"/>
          </a:p>
        </p:txBody>
      </p:sp>
      <p:sp>
        <p:nvSpPr>
          <p:cNvPr id="113" name="Shape 111"/>
          <p:cNvSpPr/>
          <p:nvPr/>
        </p:nvSpPr>
        <p:spPr>
          <a:xfrm>
            <a:off x="7680960" y="2587752"/>
            <a:ext cx="11887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7754112" y="2633472"/>
            <a:ext cx="10424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0.000172</a:t>
            </a:r>
            <a:endParaRPr lang="en-US" sz="950" dirty="0"/>
          </a:p>
        </p:txBody>
      </p:sp>
      <p:sp>
        <p:nvSpPr>
          <p:cNvPr id="115" name="Shape 113"/>
          <p:cNvSpPr/>
          <p:nvPr/>
        </p:nvSpPr>
        <p:spPr>
          <a:xfrm>
            <a:off x="8869680" y="2587752"/>
            <a:ext cx="12801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8942832" y="2633472"/>
            <a:ext cx="1133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0.351435</a:t>
            </a:r>
            <a:endParaRPr lang="en-US" sz="950" dirty="0"/>
          </a:p>
        </p:txBody>
      </p:sp>
      <p:sp>
        <p:nvSpPr>
          <p:cNvPr id="117" name="Shape 115"/>
          <p:cNvSpPr/>
          <p:nvPr/>
        </p:nvSpPr>
        <p:spPr>
          <a:xfrm>
            <a:off x="10149840" y="2587752"/>
            <a:ext cx="20116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10222992" y="2633472"/>
            <a:ext cx="18653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0.011631</a:t>
            </a:r>
            <a:endParaRPr lang="en-US" sz="950" dirty="0"/>
          </a:p>
        </p:txBody>
      </p:sp>
      <p:sp>
        <p:nvSpPr>
          <p:cNvPr id="119" name="Shape 117"/>
          <p:cNvSpPr/>
          <p:nvPr/>
        </p:nvSpPr>
        <p:spPr>
          <a:xfrm>
            <a:off x="548640" y="3246120"/>
            <a:ext cx="37947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120" name="Image 0" descr="/mnt/data/viz_checkpoints_slides/20260112_114353/fig/hist_train_vs_val_V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943642"/>
            <a:ext cx="3703320" cy="1622476"/>
          </a:xfrm>
          <a:prstGeom prst="rect">
            <a:avLst/>
          </a:prstGeom>
        </p:spPr>
      </p:pic>
      <p:sp>
        <p:nvSpPr>
          <p:cNvPr id="121" name="Text 118"/>
          <p:cNvSpPr/>
          <p:nvPr/>
        </p:nvSpPr>
        <p:spPr>
          <a:xfrm>
            <a:off x="640080" y="6236208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 피처 비교: V9</a:t>
            </a:r>
            <a:endParaRPr lang="en-US" sz="900" dirty="0"/>
          </a:p>
        </p:txBody>
      </p:sp>
      <p:sp>
        <p:nvSpPr>
          <p:cNvPr id="122" name="Shape 119"/>
          <p:cNvSpPr/>
          <p:nvPr/>
        </p:nvSpPr>
        <p:spPr>
          <a:xfrm>
            <a:off x="4480560" y="3246120"/>
            <a:ext cx="37947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123" name="Image 1" descr="/mnt/data/viz_checkpoints_slides/20260112_114353/fig/hist_train_vs_val_V2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3943642"/>
            <a:ext cx="3703320" cy="1622476"/>
          </a:xfrm>
          <a:prstGeom prst="rect">
            <a:avLst/>
          </a:prstGeom>
        </p:spPr>
      </p:pic>
      <p:sp>
        <p:nvSpPr>
          <p:cNvPr id="124" name="Text 120"/>
          <p:cNvSpPr/>
          <p:nvPr/>
        </p:nvSpPr>
        <p:spPr>
          <a:xfrm>
            <a:off x="4572000" y="6236208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 피처 비교: V25</a:t>
            </a:r>
            <a:endParaRPr lang="en-US" sz="900" dirty="0"/>
          </a:p>
        </p:txBody>
      </p:sp>
      <p:sp>
        <p:nvSpPr>
          <p:cNvPr id="125" name="Shape 121"/>
          <p:cNvSpPr/>
          <p:nvPr/>
        </p:nvSpPr>
        <p:spPr>
          <a:xfrm>
            <a:off x="8412480" y="3246120"/>
            <a:ext cx="37490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126" name="Image 2" descr="/mnt/data/viz_checkpoints_slides/20260112_114353/fig/hist_train_vs_val_V2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0" y="3953657"/>
            <a:ext cx="3657600" cy="1602446"/>
          </a:xfrm>
          <a:prstGeom prst="rect">
            <a:avLst/>
          </a:prstGeom>
        </p:spPr>
      </p:pic>
      <p:sp>
        <p:nvSpPr>
          <p:cNvPr id="127" name="Text 122"/>
          <p:cNvSpPr/>
          <p:nvPr/>
        </p:nvSpPr>
        <p:spPr>
          <a:xfrm>
            <a:off x="8503920" y="623620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 피처 비교: V26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8585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블록 3 — 피처 선택 + contamination 설정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11858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라벨은 “학습”이 아니라 “설계/검증”에만 사용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1118585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77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후보 개수 스케일(= outlier 컷오프)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3108960" cy="274320"/>
          </a:xfrm>
          <a:prstGeom prst="rect">
            <a:avLst/>
          </a:prstGeom>
          <a:solidFill>
            <a:srgbClr val="EEF2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097280"/>
            <a:ext cx="29626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0" y="1051560"/>
            <a:ext cx="2377440" cy="274320"/>
          </a:xfrm>
          <a:prstGeom prst="rect">
            <a:avLst/>
          </a:prstGeom>
          <a:solidFill>
            <a:srgbClr val="EEF2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30752" y="1097280"/>
            <a:ext cx="22311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1325880"/>
            <a:ext cx="31089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371600"/>
            <a:ext cx="29626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val_fraud_rate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0" y="1325880"/>
            <a:ext cx="23774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30752" y="1371600"/>
            <a:ext cx="22311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0.001054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1600200"/>
            <a:ext cx="31089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1645920"/>
            <a:ext cx="29626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0" y="1600200"/>
            <a:ext cx="23774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30752" y="1645920"/>
            <a:ext cx="22311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0.001055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1874520"/>
            <a:ext cx="31089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1920240"/>
            <a:ext cx="29626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train_expected_fraud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0" y="1874520"/>
            <a:ext cx="23774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30752" y="1920240"/>
            <a:ext cx="22311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119.99367577823062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2148840"/>
            <a:ext cx="31089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2194560"/>
            <a:ext cx="29626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test_expected_fraud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0" y="2148840"/>
            <a:ext cx="23774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30752" y="2194560"/>
            <a:ext cx="22311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150.20342913358164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265176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쉽게 말하면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contamination이 “몇 %를 후보로 뽑을지”를 결정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너무 크면 FP↑ / 너무 작으면 FN↑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1등 코드는 val fraud rate 수준으로 맞춰 후보 수를 안정화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0" y="777240"/>
            <a:ext cx="57607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28" name="Image 0" descr="/mnt/data/viz_checkpoints_slides/20260112_114353/fig/superior_var1_boxplots_top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6714" y="822960"/>
            <a:ext cx="868892" cy="237744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6492240" y="3218688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superior_var1: Class 분리력 높은 피처(예시)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6400800" y="3703320"/>
            <a:ext cx="57607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31" name="Image 1" descr="/mnt/data/viz_checkpoints_slides/20260112_114353/fig/inferior_var2_boxplots_top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4399" y="3749040"/>
            <a:ext cx="873523" cy="237744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6492240" y="6144768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inferior_var2: 분리력 낮거나 겹침 큰 피처(예시)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8585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블록 4 — Stage1 후보 생성(매커니즘)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11858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PaCMAP(구조 드러내기) + IsolationForest(이상치 점수)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1118585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77240"/>
            <a:ext cx="566928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94183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Stage1이 하는 일(쉽게)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280160"/>
            <a:ext cx="5212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train에서 “정상 분포”를 학습한다.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PaCMAP으로 고차원 → 저차원 임베딩(군집/경계가 보이게).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IsolationForest로 “얼마나 빨리 고립되는지” 점수화.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contamination만큼 상위 outlier만 후보(1)로 선택.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429000"/>
            <a:ext cx="566928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359359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 동작 체크(무엇을 보면 되나)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3931920"/>
            <a:ext cx="5212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점수 분포에서 사기(Class1)가 높은 점수 영역에 더 많이 위치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예측값 분포에서 1은 “극소수” (희소 후보)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후보의 사기 농도(precision)가 높아야 함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777240"/>
            <a:ext cx="57607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12" name="Image 0" descr="/mnt/data/viz_checkpoints_slides/20260112_114353/fig/stage1_train_scatter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8243" y="822960"/>
            <a:ext cx="2665835" cy="23774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492240" y="3218688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Stage1 train 임베딩(분포 형태)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400800" y="3703320"/>
            <a:ext cx="57607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15" name="Image 1" descr="/mnt/data/viz_checkpoints_slides/20260112_114353/fig/stage1_score_hist_by_cla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8348" y="3749040"/>
            <a:ext cx="5465624" cy="23774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492240" y="6144768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Stage1 점수 분포(Class별)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8585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Stage1 결과(Validation) — 후보 품질 검증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11858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후보 27개 중 사기 24개 (고농도 후보)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1118585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77240"/>
            <a:ext cx="58064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6" name="Image 0" descr="/mnt/data/viz_checkpoints_slides/20260112_114353/fig/stage1_val_scatter2d_byCl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921" y="822960"/>
            <a:ext cx="3495879" cy="2971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813048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임베딩: Class 색상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446520" y="777240"/>
            <a:ext cx="57150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9" name="Image 1" descr="/mnt/data/viz_checkpoints_slides/20260112_114353/fig/stage1_p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2823" y="822960"/>
            <a:ext cx="3402393" cy="2971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37960" y="3813048"/>
            <a:ext cx="5532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곡선(점수 기반)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548640" y="42062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혼동행렬(Validation)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4480560"/>
            <a:ext cx="1280160" cy="274320"/>
          </a:xfrm>
          <a:prstGeom prst="rect">
            <a:avLst/>
          </a:prstGeom>
          <a:solidFill>
            <a:srgbClr val="EEF2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21792" y="4526280"/>
            <a:ext cx="11338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true\pred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1828800" y="4480560"/>
            <a:ext cx="1234440" cy="274320"/>
          </a:xfrm>
          <a:prstGeom prst="rect">
            <a:avLst/>
          </a:prstGeom>
          <a:solidFill>
            <a:srgbClr val="EEF2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901952" y="4526280"/>
            <a:ext cx="10881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pred0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063240" y="4480560"/>
            <a:ext cx="1234440" cy="274320"/>
          </a:xfrm>
          <a:prstGeom prst="rect">
            <a:avLst/>
          </a:prstGeom>
          <a:solidFill>
            <a:srgbClr val="EEF2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136392" y="4526280"/>
            <a:ext cx="10881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pred1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48640" y="4754880"/>
            <a:ext cx="12801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21792" y="4800600"/>
            <a:ext cx="11338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true0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1828800" y="4754880"/>
            <a:ext cx="12344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901952" y="4800600"/>
            <a:ext cx="10881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28429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063240" y="4754880"/>
            <a:ext cx="12344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136392" y="4800600"/>
            <a:ext cx="10881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548640" y="5029200"/>
            <a:ext cx="12801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1792" y="5074920"/>
            <a:ext cx="11338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true1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1828800" y="5029200"/>
            <a:ext cx="12344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901952" y="5074920"/>
            <a:ext cx="10881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063240" y="5029200"/>
            <a:ext cx="12344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136392" y="5074920"/>
            <a:ext cx="10881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4480560" y="4206240"/>
            <a:ext cx="76809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709160" y="4343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해석(쉽게)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4709160" y="4681728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후보 수: 27 (val 전체 28,462 중 극소수)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Precision(후보 농도) ≈ 0.889  |  Recall(사기 포착) ≈ 0.800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결론: “사기 포함 후보 리스트”로는 매우 우수 → 다음 단계(정제)로 FP만 제거하면 됨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8585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블록 5 — Stage3(안정화): 추가 피처 + 보팅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11858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PaCMAP의 변동성을 “다회 실행/보팅”으로 상쇄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1118585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77240"/>
            <a:ext cx="5669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94183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Stage3가 추가로 하는 일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280160"/>
            <a:ext cx="52120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new_born_idx / dhk_add_list 등 추가 피처를 조합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여러 번 실행하여 “항상 outlier로 뽑히는” 샘플을 채택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목적: 후보 재현성(안정성) 확보 + 과도한 흔들림 방지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56692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309067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 동작 체크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3429000"/>
            <a:ext cx="521208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Stage1과 비슷한 후보 수/농도 유지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실행마다 크게 바뀌지 않고 수렴(보팅 효과)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추가 피처가 Class 분리 단서를 제공(박스플롯 확인)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777240"/>
            <a:ext cx="576072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12" name="Image 0" descr="/mnt/data/viz_checkpoints_slides/20260112_114353/fig/new_born_idx_boxpl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3483" y="822960"/>
            <a:ext cx="2095354" cy="24688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492240" y="3310128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추가 피처(new_born_idx) 분포(Class별)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400800" y="3703320"/>
            <a:ext cx="576072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15" name="Image 1" descr="/mnt/data/viz_checkpoints_slides/20260112_114353/fig/dhk_add_list_boxplo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4128316"/>
            <a:ext cx="5669280" cy="171032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492240" y="6236208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추가 피처(dhk_add_list) 분포(Class별)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8585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Stage3 결과(Validation) — 안정화 확인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11858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실행에서는 Stage1과 동일 후보로 수렴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1118585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77240"/>
            <a:ext cx="58064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6" name="Image 0" descr="/mnt/data/viz_checkpoints_slides/20260112_114353/fig/stage3_val_scatter2d_byCl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9686" y="822960"/>
            <a:ext cx="3544349" cy="2971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813048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임베딩: Class 색상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446520" y="777240"/>
            <a:ext cx="57150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9" name="Image 1" descr="/mnt/data/viz_checkpoints_slides/20260112_114353/fig/stage3_score_hist_by_cla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064759"/>
            <a:ext cx="5623560" cy="248820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37960" y="3813048"/>
            <a:ext cx="5532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Stage3 점수 분포(Class별)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548640" y="42062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혼동행렬(Validation)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4480560"/>
            <a:ext cx="1280160" cy="274320"/>
          </a:xfrm>
          <a:prstGeom prst="rect">
            <a:avLst/>
          </a:prstGeom>
          <a:solidFill>
            <a:srgbClr val="EEF2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21792" y="4526280"/>
            <a:ext cx="11338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true\pred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1828800" y="4480560"/>
            <a:ext cx="1234440" cy="274320"/>
          </a:xfrm>
          <a:prstGeom prst="rect">
            <a:avLst/>
          </a:prstGeom>
          <a:solidFill>
            <a:srgbClr val="EEF2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901952" y="4526280"/>
            <a:ext cx="10881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pred0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063240" y="4480560"/>
            <a:ext cx="1234440" cy="274320"/>
          </a:xfrm>
          <a:prstGeom prst="rect">
            <a:avLst/>
          </a:prstGeom>
          <a:solidFill>
            <a:srgbClr val="EEF2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136392" y="4526280"/>
            <a:ext cx="10881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pred1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48640" y="4754880"/>
            <a:ext cx="12801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21792" y="4800600"/>
            <a:ext cx="11338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true0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1828800" y="4754880"/>
            <a:ext cx="12344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901952" y="4800600"/>
            <a:ext cx="10881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28429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063240" y="4754880"/>
            <a:ext cx="12344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136392" y="4800600"/>
            <a:ext cx="10881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548640" y="5029200"/>
            <a:ext cx="12801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1792" y="5074920"/>
            <a:ext cx="11338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true1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1828800" y="5029200"/>
            <a:ext cx="12344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901952" y="5074920"/>
            <a:ext cx="10881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063240" y="5029200"/>
            <a:ext cx="12344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136392" y="5074920"/>
            <a:ext cx="10881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4480560" y="4206240"/>
            <a:ext cx="76809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709160" y="4343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해석(쉽게)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4709160" y="4681728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TP/FP/FN이 Stage1과 동일 → 후보가 이미 “안정적으로 재현”됨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보팅이 결과를 망치는 것이 아니라, 변동성을 억제하는 방향으로 작동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다음 단계(1010)는 이 후보 집합에서 FP=3을 제거하는 역할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8585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블록 6 — 1010 정제(매커니즘)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11858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후보 subset 내부에서 KernelPCA로 FP 제거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1118585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77240"/>
            <a:ext cx="566928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94183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아이디어(쉽게)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280160"/>
            <a:ext cx="521208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Stage1/3는 “후보 리스트”를 만든다 (여전히 FP 존재).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1010은 전체를 다시 분류하지 않는다.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후보 subset(27개) 안에서만 비선형 구조를 펼쳐 FP를 깎는다.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KernelPCA: 후보 내부의 “휘어진 경계”를 더 잘 드러내기 위한 도구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611880"/>
            <a:ext cx="566928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377647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실전 체크(버그 방지)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4114800"/>
            <a:ext cx="52120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subset(27)과 전체 val(28462)을 섞어 평가하면 길이 불일치 오류 발생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반드시 두 평가를 분리: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subset 내부 성능 (27개)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전체 확장 평가 (28462개)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777240"/>
            <a:ext cx="576072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12" name="Image 0" descr="/mnt/data/viz_checkpoints_slides/20260112_114353/fig/one_val_pca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8892" y="822960"/>
            <a:ext cx="2944536" cy="24688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492240" y="3310128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후보 subset 2D 구조(예: PCA/KPCA)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400800" y="3703320"/>
            <a:ext cx="576072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15" name="Image 1" descr="/mnt/data/viz_checkpoints_slides/20260112_114353/fig/pred1010_val_hi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0261" y="3749040"/>
            <a:ext cx="5461797" cy="24688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492240" y="6236208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pred1010 분포(val subset)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8585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1010 효과(Validation) — FP 제거 &amp; TP 유지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11858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정제 전/후를 숫자로 비교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1118585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772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 내부(27개) 혼동행렬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1554480" cy="274320"/>
          </a:xfrm>
          <a:prstGeom prst="rect">
            <a:avLst/>
          </a:prstGeom>
          <a:solidFill>
            <a:srgbClr val="EEF2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097280"/>
            <a:ext cx="14081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true\pred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03120" y="1051560"/>
            <a:ext cx="1737360" cy="274320"/>
          </a:xfrm>
          <a:prstGeom prst="rect">
            <a:avLst/>
          </a:prstGeom>
          <a:solidFill>
            <a:srgbClr val="EEF2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76272" y="1097280"/>
            <a:ext cx="15910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40480" y="1051560"/>
            <a:ext cx="1737360" cy="274320"/>
          </a:xfrm>
          <a:prstGeom prst="rect">
            <a:avLst/>
          </a:prstGeom>
          <a:solidFill>
            <a:srgbClr val="EEF2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13632" y="1097280"/>
            <a:ext cx="15910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1325880"/>
            <a:ext cx="15544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1371600"/>
            <a:ext cx="14081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03120" y="1325880"/>
            <a:ext cx="1737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76272" y="1371600"/>
            <a:ext cx="15910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40480" y="1325880"/>
            <a:ext cx="1737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13632" y="1371600"/>
            <a:ext cx="15910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1600200"/>
            <a:ext cx="15544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1645920"/>
            <a:ext cx="14081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true1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103120" y="1600200"/>
            <a:ext cx="1737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76272" y="1645920"/>
            <a:ext cx="15910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840480" y="1600200"/>
            <a:ext cx="1737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13632" y="1645920"/>
            <a:ext cx="15910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2148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val 확장 평가 혼동행렬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2423160"/>
            <a:ext cx="1554480" cy="274320"/>
          </a:xfrm>
          <a:prstGeom prst="rect">
            <a:avLst/>
          </a:prstGeom>
          <a:solidFill>
            <a:srgbClr val="EEF2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" y="2468880"/>
            <a:ext cx="14081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true\pred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103120" y="2423160"/>
            <a:ext cx="1737360" cy="274320"/>
          </a:xfrm>
          <a:prstGeom prst="rect">
            <a:avLst/>
          </a:prstGeom>
          <a:solidFill>
            <a:srgbClr val="EEF2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76272" y="2468880"/>
            <a:ext cx="15910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840480" y="2423160"/>
            <a:ext cx="1737360" cy="274320"/>
          </a:xfrm>
          <a:prstGeom prst="rect">
            <a:avLst/>
          </a:prstGeom>
          <a:solidFill>
            <a:srgbClr val="EEF2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13632" y="2468880"/>
            <a:ext cx="15910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pred1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2697480"/>
            <a:ext cx="15544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" y="2743200"/>
            <a:ext cx="14081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true0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103120" y="2697480"/>
            <a:ext cx="1737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76272" y="2743200"/>
            <a:ext cx="15910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28432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840480" y="2697480"/>
            <a:ext cx="1737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13632" y="2743200"/>
            <a:ext cx="15910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8640" y="2971800"/>
            <a:ext cx="15544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" y="3017520"/>
            <a:ext cx="14081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true1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103120" y="2971800"/>
            <a:ext cx="1737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76272" y="3017520"/>
            <a:ext cx="15910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840480" y="2971800"/>
            <a:ext cx="1737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913632" y="3017520"/>
            <a:ext cx="15910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897880" y="777240"/>
            <a:ext cx="6245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정제 전/후 변화(막대 차트)</a:t>
            </a:r>
            <a:endParaRPr lang="en-US" sz="130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5897880" y="1097280"/>
          <a:ext cx="6245352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Shape 42"/>
          <p:cNvSpPr/>
          <p:nvPr/>
        </p:nvSpPr>
        <p:spPr>
          <a:xfrm>
            <a:off x="5897880" y="4023360"/>
            <a:ext cx="6245352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126480" y="416052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해석(쉽게)</a:t>
            </a:r>
            <a:endParaRPr lang="en-US" sz="1300" dirty="0"/>
          </a:p>
        </p:txBody>
      </p:sp>
      <p:sp>
        <p:nvSpPr>
          <p:cNvPr id="47" name="Text 44"/>
          <p:cNvSpPr/>
          <p:nvPr/>
        </p:nvSpPr>
        <p:spPr>
          <a:xfrm>
            <a:off x="6126480" y="4498848"/>
            <a:ext cx="5852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FP: 3 → 0 (0으로 제거)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TP: 24 → 24 (유지)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결론: “후보 생성력(Recall)”을 깎지 않고 “정밀도(Precision)”만 올림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private score에 특히 유리한 패턴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8585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블록 7 — 최종 제출 생성 &amp; sanity check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11858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분포/개수 정합성으로 인덱스 오류를 조기 발견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1118585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77240"/>
            <a:ext cx="60350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6" name="Image 0" descr="/mnt/data/viz_checkpoints_slides/20260112_114353/fig/final_submit_class_h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506" y="822960"/>
            <a:ext cx="5183309" cy="3520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4361688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제출 Class 분포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720840" y="777240"/>
            <a:ext cx="5440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제출 요약(숫자로 확인)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720840" y="1051560"/>
            <a:ext cx="2971800" cy="274320"/>
          </a:xfrm>
          <a:prstGeom prst="rect">
            <a:avLst/>
          </a:prstGeom>
          <a:solidFill>
            <a:srgbClr val="EEF2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93992" y="1097280"/>
            <a:ext cx="28254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9692640" y="1051560"/>
            <a:ext cx="2468880" cy="274320"/>
          </a:xfrm>
          <a:prstGeom prst="rect">
            <a:avLst/>
          </a:prstGeom>
          <a:solidFill>
            <a:srgbClr val="EEF2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765792" y="1097280"/>
            <a:ext cx="23225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720840" y="1325880"/>
            <a:ext cx="29718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93992" y="1371600"/>
            <a:ext cx="28254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test_n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9692640" y="1325880"/>
            <a:ext cx="24688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765792" y="1371600"/>
            <a:ext cx="23225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142503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720840" y="1600200"/>
            <a:ext cx="29718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93992" y="1645920"/>
            <a:ext cx="28254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final_pos_rate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9692640" y="1600200"/>
            <a:ext cx="24688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765792" y="1645920"/>
            <a:ext cx="23225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0.002007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720840" y="1874520"/>
            <a:ext cx="29718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793992" y="1920240"/>
            <a:ext cx="28254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estimated_positive_count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9692640" y="1874520"/>
            <a:ext cx="24688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765792" y="1920240"/>
            <a:ext cx="23225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286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720840" y="2423160"/>
            <a:ext cx="54406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6949440" y="2587752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 동작 체크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949440" y="2926080"/>
            <a:ext cx="49834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양성 비율이 0이거나 과도하게 크지 않음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후보/후처리 로직으로 “설명 가능한 수준”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인덱스/ID 매핑이 깨지면 분포가 비정상적으로 튀기 쉬움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720840" y="4754880"/>
            <a:ext cx="544068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6949440" y="4919472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실행 해석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6949440" y="5257800"/>
            <a:ext cx="49834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pos_rate ≈ 0.002007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양성 ≈ 286개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“극소수 양성” 조건을 만족하며 제출 형식도 정상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8585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1등 전략이 강한가 (그리고 남는 FN)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11858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score에 유리한 “분업 설계”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1118585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77240"/>
            <a:ext cx="566928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94183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강점(정리)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280160"/>
            <a:ext cx="521208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규칙 준수: val 라벨로 모델 피팅 X (검증/설계만)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극불균형 대응: 후보 생성(Recall)과 정제(Precision) 분업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랜덤성 완화: Stage3 보팅으로 재현성 강화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정량 검증 루프: 쉬프트/혼동행렬/분포로 정상 동작을 “증명”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840480"/>
            <a:ext cx="566928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400507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남는 FN(미탐) 해석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4343400"/>
            <a:ext cx="521208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Validation 기준 FN=6 (사기 30개 중 일부는 정상처럼 보임)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후보를 더 늘리면 FN↓ 가능하지만 FP↑로 score 악화 위험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1등 풀이는 “Precision 우선” 절충을 선택한 것으로 해석 가능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개선 방향: FN 샘플의 임베딩/점수/피처 분포를 별도 분석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46520" y="777240"/>
            <a:ext cx="57150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12" name="Image 0" descr="/mnt/data/viz_checkpoints_slides/20260112_114353/fig/stage1_r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4546" y="822960"/>
            <a:ext cx="2878948" cy="25146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537960" y="3355848"/>
            <a:ext cx="5532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Stage1 ROC (점수 순위의 분리력)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446520" y="3840480"/>
            <a:ext cx="57150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15" name="Image 1" descr="/mnt/data/viz_checkpoints_slides/20260112_114353/fig/stage3_p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9235" y="3886200"/>
            <a:ext cx="2669570" cy="23317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537960" y="6236208"/>
            <a:ext cx="5532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Stage3 PR (불균형에서의 trade-off)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1118585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부록 — 재현 방법 &amp; 산출물 위치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11858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실행 후 무엇을 보면 되는지 체크리스트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1118585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77240"/>
            <a:ext cx="585216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94183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재현 체크리스트(추천)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280160"/>
            <a:ext cx="53949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정합성: Null/Inf=0, 스키마 동일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쉬프트: PSI 상위 피처에서도 큰 차이 없음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Stage1: 후보 수가 극소수 + 사기 농도 높음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Stage3: 후보가 크게 흔들리지 않음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1010: FP 감소(가능하면 0) + TP 유지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6) 제출: pos_rate가 0/폭주가 아닌 합리적 범위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886200"/>
            <a:ext cx="585216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405079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산출물 위치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4389120"/>
            <a:ext cx="53949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figs: /mnt/data/viz_checkpoints_slides/20260112_114353/fig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tables: /mnt/data/viz_checkpoints_slides/20260112_114353/tables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logs: /mnt/data/viz_checkpoints_slides/20260112_114353/logs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보고서(PDF) → PPT는 이 산출물을 기반으로 작성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629400" y="777240"/>
            <a:ext cx="55321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12" name="Image 0" descr="/mnt/data/viz_checkpoints_slides/20260112_114353/fig/stage1_score_hist_by_cl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6067" y="822960"/>
            <a:ext cx="3678786" cy="1600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720840" y="2441448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점수 분리(예시)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629400" y="2880360"/>
            <a:ext cx="26974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15" name="Image 1" descr="/mnt/data/viz_checkpoints_slides/20260112_114353/fig/pred1010_val_hi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3983000"/>
            <a:ext cx="2606040" cy="117800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720840" y="6236208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1010 분포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9464040" y="2880360"/>
            <a:ext cx="26974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18" name="Image 2" descr="/mnt/data/viz_checkpoints_slides/20260112_114353/fig/final_submit_class_hi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0" y="3687005"/>
            <a:ext cx="2606040" cy="176999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555480" y="6236208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제출 분포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3286</Words>
  <Application>Microsoft Office PowerPoint</Application>
  <PresentationFormat>와이드스크린</PresentationFormat>
  <Paragraphs>332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xrtwin</cp:lastModifiedBy>
  <cp:revision>2</cp:revision>
  <dcterms:created xsi:type="dcterms:W3CDTF">2026-01-12T09:06:35Z</dcterms:created>
  <dcterms:modified xsi:type="dcterms:W3CDTF">2026-01-12T09:22:31Z</dcterms:modified>
</cp:coreProperties>
</file>